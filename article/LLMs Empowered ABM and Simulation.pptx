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0" r:id="rId1"/>
  </p:sldMasterIdLst>
  <p:notesMasterIdLst>
    <p:notesMasterId r:id="rId16"/>
  </p:notesMasterIdLst>
  <p:sldIdLst>
    <p:sldId id="256" r:id="rId2"/>
    <p:sldId id="258" r:id="rId3"/>
    <p:sldId id="262" r:id="rId4"/>
    <p:sldId id="261" r:id="rId5"/>
    <p:sldId id="430" r:id="rId6"/>
    <p:sldId id="427" r:id="rId7"/>
    <p:sldId id="428" r:id="rId8"/>
    <p:sldId id="429" r:id="rId9"/>
    <p:sldId id="433" r:id="rId10"/>
    <p:sldId id="431" r:id="rId11"/>
    <p:sldId id="434" r:id="rId12"/>
    <p:sldId id="432" r:id="rId13"/>
    <p:sldId id="267" r:id="rId14"/>
    <p:sldId id="282" r:id="rId15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7"/>
    </p:embeddedFont>
    <p:embeddedFont>
      <p:font typeface="B Titr" panose="00000700000000000000" pitchFamily="2" charset="-78"/>
      <p:bold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6460D5-230D-4ACB-9860-E439C04ED991}">
  <a:tblStyle styleId="{F46460D5-230D-4ACB-9860-E439C04ED9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2c6eb5e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2c6eb5e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2cb4d027a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2cb4d027a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0670E3B-44A7-88DC-BDC4-4D55E92A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2cb4d027a_0_152:notes">
            <a:extLst>
              <a:ext uri="{FF2B5EF4-FFF2-40B4-BE49-F238E27FC236}">
                <a16:creationId xmlns:a16="http://schemas.microsoft.com/office/drawing/2014/main" id="{A4DBE64B-771B-CA7E-5887-E02258DCC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2cb4d027a_0_152:notes">
            <a:extLst>
              <a:ext uri="{FF2B5EF4-FFF2-40B4-BE49-F238E27FC236}">
                <a16:creationId xmlns:a16="http://schemas.microsoft.com/office/drawing/2014/main" id="{7946E11F-425D-523E-36F5-A4F5872D6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332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3C4D59B5-3753-08AE-893E-D1D8F604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>
            <a:extLst>
              <a:ext uri="{FF2B5EF4-FFF2-40B4-BE49-F238E27FC236}">
                <a16:creationId xmlns:a16="http://schemas.microsoft.com/office/drawing/2014/main" id="{B469E6C4-8E94-BA79-ECB3-B04B9969F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>
            <a:extLst>
              <a:ext uri="{FF2B5EF4-FFF2-40B4-BE49-F238E27FC236}">
                <a16:creationId xmlns:a16="http://schemas.microsoft.com/office/drawing/2014/main" id="{8FB7C40A-727F-30B2-3CA9-42E68B5E7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355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5A6FDC11-8DE9-E7B6-0682-9D4905F9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>
            <a:extLst>
              <a:ext uri="{FF2B5EF4-FFF2-40B4-BE49-F238E27FC236}">
                <a16:creationId xmlns:a16="http://schemas.microsoft.com/office/drawing/2014/main" id="{11A41564-6711-810A-951A-FC90F43AE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>
            <a:extLst>
              <a:ext uri="{FF2B5EF4-FFF2-40B4-BE49-F238E27FC236}">
                <a16:creationId xmlns:a16="http://schemas.microsoft.com/office/drawing/2014/main" id="{A80E6CA4-BF30-3A85-90E0-196912CC8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590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FD3009A-3D11-C2B0-BBD9-CB237529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>
            <a:extLst>
              <a:ext uri="{FF2B5EF4-FFF2-40B4-BE49-F238E27FC236}">
                <a16:creationId xmlns:a16="http://schemas.microsoft.com/office/drawing/2014/main" id="{A0E95DBC-E30B-9444-EC0B-F2FBEBCA3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>
            <a:extLst>
              <a:ext uri="{FF2B5EF4-FFF2-40B4-BE49-F238E27FC236}">
                <a16:creationId xmlns:a16="http://schemas.microsoft.com/office/drawing/2014/main" id="{062A977C-A264-AD3D-B00F-F7085B0EA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060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44D0EF2-F5AE-471C-06B9-E0F87C5F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2cb4d027a_0_152:notes">
            <a:extLst>
              <a:ext uri="{FF2B5EF4-FFF2-40B4-BE49-F238E27FC236}">
                <a16:creationId xmlns:a16="http://schemas.microsoft.com/office/drawing/2014/main" id="{6BA7E327-F909-1647-D0FA-76299B385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2cb4d027a_0_152:notes">
            <a:extLst>
              <a:ext uri="{FF2B5EF4-FFF2-40B4-BE49-F238E27FC236}">
                <a16:creationId xmlns:a16="http://schemas.microsoft.com/office/drawing/2014/main" id="{708D746A-5772-6043-7AB8-039586614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970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2903FBE-6B9C-0EDF-37AA-7182AA9F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>
            <a:extLst>
              <a:ext uri="{FF2B5EF4-FFF2-40B4-BE49-F238E27FC236}">
                <a16:creationId xmlns:a16="http://schemas.microsoft.com/office/drawing/2014/main" id="{566C40AD-1D89-E20E-A682-0B7311A48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>
            <a:extLst>
              <a:ext uri="{FF2B5EF4-FFF2-40B4-BE49-F238E27FC236}">
                <a16:creationId xmlns:a16="http://schemas.microsoft.com/office/drawing/2014/main" id="{B907428C-C5E3-382A-8A48-B72D73AB9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291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F29F265-89F0-B217-6C04-99E6D9F3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2cb4d027a_0_152:notes">
            <a:extLst>
              <a:ext uri="{FF2B5EF4-FFF2-40B4-BE49-F238E27FC236}">
                <a16:creationId xmlns:a16="http://schemas.microsoft.com/office/drawing/2014/main" id="{5534B0EC-EB55-B481-F229-234A480D3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2cb4d027a_0_152:notes">
            <a:extLst>
              <a:ext uri="{FF2B5EF4-FFF2-40B4-BE49-F238E27FC236}">
                <a16:creationId xmlns:a16="http://schemas.microsoft.com/office/drawing/2014/main" id="{C2E43FC6-A3BE-BAC1-F03D-004EDAAA0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583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E19F3B90-6F75-D812-873E-A98D212C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87768478_0_64:notes">
            <a:extLst>
              <a:ext uri="{FF2B5EF4-FFF2-40B4-BE49-F238E27FC236}">
                <a16:creationId xmlns:a16="http://schemas.microsoft.com/office/drawing/2014/main" id="{C6249C26-B787-706E-5FC5-1EE4F7BE7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87768478_0_64:notes">
            <a:extLst>
              <a:ext uri="{FF2B5EF4-FFF2-40B4-BE49-F238E27FC236}">
                <a16:creationId xmlns:a16="http://schemas.microsoft.com/office/drawing/2014/main" id="{D2BFFA33-64FC-A02E-37EE-D08E81177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788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a8776847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aa8776847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aa87768478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aa87768478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/>
        </p:nvSpPr>
        <p:spPr>
          <a:xfrm>
            <a:off x="840200" y="850375"/>
            <a:ext cx="7641300" cy="314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57400" y="1337775"/>
            <a:ext cx="5029200" cy="182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5200"/>
              <a:buNone/>
              <a:defRPr sz="45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8800" y="3191721"/>
            <a:ext cx="5486400" cy="2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13200" y="530200"/>
            <a:ext cx="7717500" cy="406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2227050"/>
            <a:ext cx="77178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cs typeface="B Nazanin" panose="00000400000000000000" pitchFamily="2" charset="-7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907425" y="0"/>
            <a:ext cx="1123800" cy="16323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50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3225" y="1816625"/>
            <a:ext cx="7717500" cy="60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6292075" y="3642475"/>
            <a:ext cx="2139600" cy="93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6292075" y="3267571"/>
            <a:ext cx="2139600" cy="25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713225" y="3639303"/>
            <a:ext cx="2138700" cy="93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713225" y="3264408"/>
            <a:ext cx="2139600" cy="25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cs typeface="B Nazanin" panose="000004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cs typeface="B Nazanin" panose="000004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>
            <a:off x="713225" y="3520440"/>
            <a:ext cx="1828800" cy="7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2"/>
          </p:nvPr>
        </p:nvSpPr>
        <p:spPr>
          <a:xfrm>
            <a:off x="713225" y="2738400"/>
            <a:ext cx="1828800" cy="629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32" y="2007850"/>
            <a:ext cx="576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30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4"/>
          </p:nvPr>
        </p:nvSpPr>
        <p:spPr>
          <a:xfrm>
            <a:off x="2674613" y="3520440"/>
            <a:ext cx="1828800" cy="7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5"/>
          </p:nvPr>
        </p:nvSpPr>
        <p:spPr>
          <a:xfrm>
            <a:off x="2674613" y="2738400"/>
            <a:ext cx="1828800" cy="629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6" hasCustomPrompt="1"/>
          </p:nvPr>
        </p:nvSpPr>
        <p:spPr>
          <a:xfrm>
            <a:off x="2679192" y="2007850"/>
            <a:ext cx="576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30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7"/>
          </p:nvPr>
        </p:nvSpPr>
        <p:spPr>
          <a:xfrm>
            <a:off x="4636008" y="3520440"/>
            <a:ext cx="1828800" cy="7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8"/>
          </p:nvPr>
        </p:nvSpPr>
        <p:spPr>
          <a:xfrm>
            <a:off x="4636008" y="2738400"/>
            <a:ext cx="1429500" cy="629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9" hasCustomPrompt="1"/>
          </p:nvPr>
        </p:nvSpPr>
        <p:spPr>
          <a:xfrm>
            <a:off x="4636008" y="2011680"/>
            <a:ext cx="576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30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3"/>
          </p:nvPr>
        </p:nvSpPr>
        <p:spPr>
          <a:xfrm>
            <a:off x="6601968" y="3520440"/>
            <a:ext cx="1828800" cy="7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4"/>
          </p:nvPr>
        </p:nvSpPr>
        <p:spPr>
          <a:xfrm>
            <a:off x="6601968" y="2738400"/>
            <a:ext cx="1828800" cy="629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leway"/>
              <a:buNone/>
              <a:defRPr sz="2000" b="1">
                <a:solidFill>
                  <a:schemeClr val="accent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5" hasCustomPrompt="1"/>
          </p:nvPr>
        </p:nvSpPr>
        <p:spPr>
          <a:xfrm>
            <a:off x="6601968" y="2011680"/>
            <a:ext cx="576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3000">
                <a:solidFill>
                  <a:schemeClr val="lt2"/>
                </a:solidFill>
                <a:cs typeface="B Nazanin" panose="00000400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772975" y="35692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B Nazanin" panose="00000400000000000000" pitchFamily="2" charset="-78"/>
                <a:cs typeface="B Nazanin" panose="00000400000000000000" pitchFamily="2" charset="-78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3772975" y="1253025"/>
            <a:ext cx="4188600" cy="24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713225" y="539500"/>
            <a:ext cx="7717500" cy="403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1687050" y="1014984"/>
            <a:ext cx="5769900" cy="5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2800">
                <a:solidFill>
                  <a:schemeClr val="accent3"/>
                </a:solidFill>
                <a:cs typeface="B Nazanin" panose="00000400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sp>
        <p:nvSpPr>
          <p:cNvPr id="164" name="Google Shape;164;p29"/>
          <p:cNvSpPr txBox="1">
            <a:spLocks noGrp="1"/>
          </p:cNvSpPr>
          <p:nvPr>
            <p:ph type="subTitle" idx="1"/>
          </p:nvPr>
        </p:nvSpPr>
        <p:spPr>
          <a:xfrm>
            <a:off x="1687650" y="1847088"/>
            <a:ext cx="57687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None/>
              <a:defRPr sz="16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subTitle" idx="2"/>
          </p:nvPr>
        </p:nvSpPr>
        <p:spPr>
          <a:xfrm>
            <a:off x="1687650" y="2230577"/>
            <a:ext cx="5768700" cy="8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subTitle" idx="3"/>
          </p:nvPr>
        </p:nvSpPr>
        <p:spPr>
          <a:xfrm>
            <a:off x="1687050" y="3545050"/>
            <a:ext cx="5769900" cy="3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Roboto"/>
              <a:buNone/>
              <a:defRPr sz="21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aleway"/>
              <a:buNone/>
              <a:defRPr sz="36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8" r:id="rId5"/>
    <p:sldLayoutId id="2147483659" r:id="rId6"/>
    <p:sldLayoutId id="2147483660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B Yekan" panose="00000400000000000000" pitchFamily="2" charset="-78"/>
          <a:cs typeface="B Yekan" panose="00000400000000000000" pitchFamily="2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ctrTitle"/>
          </p:nvPr>
        </p:nvSpPr>
        <p:spPr>
          <a:xfrm>
            <a:off x="847165" y="862642"/>
            <a:ext cx="7543800" cy="82496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spcAft>
                <a:spcPts val="400"/>
              </a:spcAft>
            </a:pPr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LLMs Empowered ABM and Simulation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Google Shape;190;p35"/>
          <p:cNvSpPr txBox="1">
            <a:spLocks noGrp="1"/>
          </p:cNvSpPr>
          <p:nvPr>
            <p:ph type="subTitle" idx="1"/>
          </p:nvPr>
        </p:nvSpPr>
        <p:spPr>
          <a:xfrm>
            <a:off x="1828800" y="1869143"/>
            <a:ext cx="5486400" cy="176828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dirty="0">
                <a:cs typeface="B Titr" panose="00000700000000000000" pitchFamily="2" charset="-78"/>
              </a:rPr>
              <a:t>شروین خادمی کلانتری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cs typeface="B Titr" panose="00000700000000000000" pitchFamily="2" charset="-78"/>
              </a:rPr>
              <a:t>40406334</a:t>
            </a:r>
          </a:p>
          <a:p>
            <a:pPr lvl="0">
              <a:lnSpc>
                <a:spcPct val="150000"/>
              </a:lnSpc>
            </a:pPr>
            <a:r>
              <a:rPr lang="fa-IR" sz="2000" dirty="0">
                <a:cs typeface="B Titr" panose="00000700000000000000" pitchFamily="2" charset="-78"/>
              </a:rPr>
              <a:t>دکتر غياثي راد</a:t>
            </a:r>
            <a:endParaRPr sz="2000" dirty="0">
              <a:cs typeface="B Titr" panose="000007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/>
          <p:nvPr/>
        </p:nvSpPr>
        <p:spPr>
          <a:xfrm>
            <a:off x="6601923" y="2571750"/>
            <a:ext cx="1828800" cy="1809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7"/>
          <p:cNvSpPr/>
          <p:nvPr/>
        </p:nvSpPr>
        <p:spPr>
          <a:xfrm>
            <a:off x="4639024" y="2571750"/>
            <a:ext cx="1828800" cy="1809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7"/>
          <p:cNvSpPr/>
          <p:nvPr/>
        </p:nvSpPr>
        <p:spPr>
          <a:xfrm>
            <a:off x="2676124" y="2571750"/>
            <a:ext cx="1828800" cy="1809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7"/>
          <p:cNvSpPr/>
          <p:nvPr/>
        </p:nvSpPr>
        <p:spPr>
          <a:xfrm>
            <a:off x="713225" y="2571750"/>
            <a:ext cx="1828800" cy="1809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cs typeface="B Titr" panose="00000700000000000000" pitchFamily="2" charset="-78"/>
              </a:rPr>
              <a:t>فهرست مطالب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2"/>
          </p:nvPr>
        </p:nvSpPr>
        <p:spPr>
          <a:xfrm>
            <a:off x="713225" y="2738399"/>
            <a:ext cx="1828800" cy="961557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cs typeface="B Titr" panose="00000700000000000000" pitchFamily="2" charset="-78"/>
              </a:rPr>
              <a:t>نقد</a:t>
            </a:r>
            <a:endParaRPr sz="2800" dirty="0">
              <a:cs typeface="B Titr" panose="00000700000000000000" pitchFamily="2" charset="-78"/>
            </a:endParaRPr>
          </a:p>
        </p:txBody>
      </p:sp>
      <p:sp>
        <p:nvSpPr>
          <p:cNvPr id="209" name="Google Shape;209;p37"/>
          <p:cNvSpPr txBox="1">
            <a:spLocks noGrp="1"/>
          </p:cNvSpPr>
          <p:nvPr>
            <p:ph type="subTitle" idx="5"/>
          </p:nvPr>
        </p:nvSpPr>
        <p:spPr>
          <a:xfrm>
            <a:off x="2674613" y="2738400"/>
            <a:ext cx="1828800" cy="961556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cs typeface="B Titr" panose="00000700000000000000" pitchFamily="2" charset="-78"/>
              </a:rPr>
              <a:t>نتایج</a:t>
            </a:r>
            <a:endParaRPr sz="2800" dirty="0">
              <a:cs typeface="B Titr" panose="00000700000000000000" pitchFamily="2" charset="-78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subTitle" idx="8"/>
          </p:nvPr>
        </p:nvSpPr>
        <p:spPr>
          <a:xfrm>
            <a:off x="4647568" y="3266072"/>
            <a:ext cx="1828799" cy="433885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lvl="0" algn="ctr" rtl="1"/>
            <a:r>
              <a:rPr lang="fa-IR" sz="2800" dirty="0">
                <a:cs typeface="B Titr" panose="00000700000000000000" pitchFamily="2" charset="-78"/>
              </a:rPr>
              <a:t>روش </a:t>
            </a:r>
            <a:endParaRPr sz="2800" dirty="0">
              <a:cs typeface="B Titr" panose="00000700000000000000" pitchFamily="2" charset="-78"/>
            </a:endParaRPr>
          </a:p>
        </p:txBody>
      </p:sp>
      <p:sp>
        <p:nvSpPr>
          <p:cNvPr id="213" name="Google Shape;213;p37"/>
          <p:cNvSpPr txBox="1">
            <a:spLocks noGrp="1"/>
          </p:cNvSpPr>
          <p:nvPr>
            <p:ph type="subTitle" idx="14"/>
          </p:nvPr>
        </p:nvSpPr>
        <p:spPr>
          <a:xfrm>
            <a:off x="6601968" y="2738400"/>
            <a:ext cx="1828800" cy="961556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lvl="0" algn="ctr" rtl="1"/>
            <a:r>
              <a:rPr lang="fa-IR" sz="2800" b="0" dirty="0">
                <a:cs typeface="B Titr" panose="00000700000000000000" pitchFamily="2" charset="-78"/>
              </a:rPr>
              <a:t>مسئله</a:t>
            </a:r>
            <a:r>
              <a:rPr lang="fa-IR" sz="2400" dirty="0">
                <a:cs typeface="B Titr" panose="00000700000000000000" pitchFamily="2" charset="-78"/>
              </a:rPr>
              <a:t> </a:t>
            </a:r>
            <a:endParaRPr sz="2400" dirty="0">
              <a:cs typeface="B Titr" panose="00000700000000000000" pitchFamily="2" charset="-78"/>
            </a:endParaRPr>
          </a:p>
        </p:txBody>
      </p:sp>
      <p:sp>
        <p:nvSpPr>
          <p:cNvPr id="214" name="Google Shape;214;p37"/>
          <p:cNvSpPr txBox="1">
            <a:spLocks noGrp="1"/>
          </p:cNvSpPr>
          <p:nvPr>
            <p:ph type="title" idx="3"/>
          </p:nvPr>
        </p:nvSpPr>
        <p:spPr>
          <a:xfrm>
            <a:off x="1977591" y="2007850"/>
            <a:ext cx="57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04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6"/>
          </p:nvPr>
        </p:nvSpPr>
        <p:spPr>
          <a:xfrm>
            <a:off x="3943551" y="2007850"/>
            <a:ext cx="57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03</a:t>
            </a:r>
            <a:endParaRPr dirty="0"/>
          </a:p>
        </p:txBody>
      </p:sp>
      <p:sp>
        <p:nvSpPr>
          <p:cNvPr id="216" name="Google Shape;216;p37"/>
          <p:cNvSpPr txBox="1">
            <a:spLocks noGrp="1"/>
          </p:cNvSpPr>
          <p:nvPr>
            <p:ph type="title" idx="9"/>
          </p:nvPr>
        </p:nvSpPr>
        <p:spPr>
          <a:xfrm>
            <a:off x="5900367" y="2011680"/>
            <a:ext cx="57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02</a:t>
            </a:r>
            <a:endParaRPr dirty="0"/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5"/>
          </p:nvPr>
        </p:nvSpPr>
        <p:spPr>
          <a:xfrm>
            <a:off x="7866327" y="2011680"/>
            <a:ext cx="57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713225" y="2227050"/>
            <a:ext cx="77178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a-IR" dirty="0"/>
              <a:t>مسئله مقاله</a:t>
            </a:r>
            <a:endParaRPr dirty="0"/>
          </a:p>
        </p:txBody>
      </p:sp>
      <p:sp>
        <p:nvSpPr>
          <p:cNvPr id="247" name="Google Shape;247;p41"/>
          <p:cNvSpPr txBox="1">
            <a:spLocks noGrp="1"/>
          </p:cNvSpPr>
          <p:nvPr>
            <p:ph type="title" idx="2"/>
          </p:nvPr>
        </p:nvSpPr>
        <p:spPr>
          <a:xfrm>
            <a:off x="3907425" y="0"/>
            <a:ext cx="1123800" cy="163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01</a:t>
            </a:r>
            <a:endParaRPr dirty="0"/>
          </a:p>
        </p:txBody>
      </p:sp>
      <p:cxnSp>
        <p:nvCxnSpPr>
          <p:cNvPr id="248" name="Google Shape;248;p41"/>
          <p:cNvCxnSpPr/>
          <p:nvPr/>
        </p:nvCxnSpPr>
        <p:spPr>
          <a:xfrm rot="10800000">
            <a:off x="3733800" y="4076600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9" name="Google Shape;249;p41"/>
          <p:cNvSpPr/>
          <p:nvPr/>
        </p:nvSpPr>
        <p:spPr>
          <a:xfrm>
            <a:off x="4396775" y="3901400"/>
            <a:ext cx="350400" cy="3504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/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 rtl="1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</a:pPr>
            <a:r>
              <a:rPr lang="fa-IR" sz="1400" dirty="0">
                <a:solidFill>
                  <a:srgbClr val="000000"/>
                </a:solidFill>
                <a:cs typeface="B Titr" panose="00000700000000000000" pitchFamily="2" charset="-78"/>
              </a:rPr>
              <a:t>مسئله اصلی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مقاله به یک خلأ مهم در Agent-Based Modeling and Simulation (ABMS) اشاره می‌کند: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latin typeface="AzarMehr"/>
                <a:cs typeface="B Nazanin" panose="00000400000000000000" pitchFamily="2" charset="-78"/>
              </a:rPr>
              <a:t>مدل‌های عامل‌محور کلاسیک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latin typeface="AzarMehr"/>
                <a:cs typeface="B Nazanin" panose="00000400000000000000" pitchFamily="2" charset="-78"/>
              </a:rPr>
              <a:t>رفتارهای ساده، rule-based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latin typeface="AzarMehr"/>
                <a:cs typeface="B Nazanin" panose="00000400000000000000" pitchFamily="2" charset="-78"/>
              </a:rPr>
              <a:t>فاقد فهم زبانی، استدلال پیچیده و حافظه معنایی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latin typeface="AzarMehr"/>
                <a:cs typeface="B Nazanin" panose="00000400000000000000" pitchFamily="2" charset="-78"/>
              </a:rPr>
              <a:t>فاصله زیاد با رفتار واقعی انسان‌ها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در مقابل، Large Language Models (LLMs):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استدلال قوی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حافظه متنی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تعامل زبانی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تصمیم‌گیری شبه‌انسانی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 سؤال مرکزی مقاله: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rgbClr val="000000"/>
                </a:solidFill>
                <a:latin typeface="AzarMehr"/>
                <a:cs typeface="B Nazanin" panose="00000400000000000000" pitchFamily="2" charset="-78"/>
              </a:rPr>
              <a:t>چطور می‌توان LLMها را به‌صورت اصولی وارد ABMS کرد،و</a:t>
            </a:r>
            <a:r>
              <a:rPr lang="fa-IR" sz="1400" dirty="0">
                <a:solidFill>
                  <a:srgbClr val="000000"/>
                </a:solidFill>
                <a:cs typeface="B Nazanin" panose="00000400000000000000" pitchFamily="2" charset="-78"/>
              </a:rPr>
              <a:t> این کار چه چالش‌ها، دستاوردها و مسیرهای آینده‌ای دارد؟</a:t>
            </a:r>
          </a:p>
          <a:p>
            <a:pPr algn="r" rtl="1">
              <a:lnSpc>
                <a:spcPct val="150000"/>
              </a:lnSpc>
            </a:pPr>
            <a:endParaRPr lang="fa-IR" sz="1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87551D2-7749-9163-9197-ED282F1E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>
            <a:extLst>
              <a:ext uri="{FF2B5EF4-FFF2-40B4-BE49-F238E27FC236}">
                <a16:creationId xmlns:a16="http://schemas.microsoft.com/office/drawing/2014/main" id="{734239A0-F5B4-0CD7-6B2B-4E480049FC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227050"/>
            <a:ext cx="77178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a-IR" dirty="0"/>
              <a:t>روش ها</a:t>
            </a:r>
            <a:endParaRPr dirty="0"/>
          </a:p>
        </p:txBody>
      </p:sp>
      <p:sp>
        <p:nvSpPr>
          <p:cNvPr id="247" name="Google Shape;247;p41">
            <a:extLst>
              <a:ext uri="{FF2B5EF4-FFF2-40B4-BE49-F238E27FC236}">
                <a16:creationId xmlns:a16="http://schemas.microsoft.com/office/drawing/2014/main" id="{20570E88-AE02-93C6-14F7-6ACFD61CE7F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07425" y="0"/>
            <a:ext cx="1123800" cy="163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02</a:t>
            </a:r>
            <a:endParaRPr dirty="0"/>
          </a:p>
        </p:txBody>
      </p:sp>
      <p:cxnSp>
        <p:nvCxnSpPr>
          <p:cNvPr id="248" name="Google Shape;248;p41">
            <a:extLst>
              <a:ext uri="{FF2B5EF4-FFF2-40B4-BE49-F238E27FC236}">
                <a16:creationId xmlns:a16="http://schemas.microsoft.com/office/drawing/2014/main" id="{4BEB5269-435D-D792-2E7E-3AEC901659F1}"/>
              </a:ext>
            </a:extLst>
          </p:cNvPr>
          <p:cNvCxnSpPr/>
          <p:nvPr/>
        </p:nvCxnSpPr>
        <p:spPr>
          <a:xfrm rot="10800000">
            <a:off x="3733800" y="4076600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A05C1DA6-EECD-EFAF-1A5A-E4F410DD777B}"/>
              </a:ext>
            </a:extLst>
          </p:cNvPr>
          <p:cNvSpPr/>
          <p:nvPr/>
        </p:nvSpPr>
        <p:spPr>
          <a:xfrm>
            <a:off x="4396775" y="3901400"/>
            <a:ext cx="350400" cy="3504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1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7ADC2092-5ED9-B481-BF46-00CA4ECE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>
            <a:extLst>
              <a:ext uri="{FF2B5EF4-FFF2-40B4-BE49-F238E27FC236}">
                <a16:creationId xmlns:a16="http://schemas.microsoft.com/office/drawing/2014/main" id="{B955ED26-1189-A18C-5E26-BDF075E01DBE}"/>
              </a:ext>
            </a:extLst>
          </p:cNvPr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>
            <a:extLst>
              <a:ext uri="{FF2B5EF4-FFF2-40B4-BE49-F238E27FC236}">
                <a16:creationId xmlns:a16="http://schemas.microsoft.com/office/drawing/2014/main" id="{BD5D1F6A-898E-DD02-C30D-D2C09AA1E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 rtl="1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</a:pPr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روش (</a:t>
            </a:r>
            <a:r>
              <a:rPr lang="en-US" sz="1600" b="1" dirty="0">
                <a:solidFill>
                  <a:schemeClr val="tx1"/>
                </a:solidFill>
                <a:cs typeface="B Titr" panose="00000700000000000000" pitchFamily="2" charset="-78"/>
              </a:rPr>
              <a:t>Method</a:t>
            </a:r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)</a:t>
            </a:r>
            <a:r>
              <a:rPr lang="en-US" sz="1600" b="1" dirty="0">
                <a:solidFill>
                  <a:schemeClr val="tx1"/>
                </a:solidFill>
                <a:cs typeface="B Titr" panose="00000700000000000000" pitchFamily="2" charset="-78"/>
              </a:rPr>
              <a:t> </a:t>
            </a:r>
            <a:endParaRPr lang="fa-IR" sz="1600" b="1" dirty="0">
              <a:solidFill>
                <a:schemeClr val="tx1"/>
              </a:solidFill>
              <a:cs typeface="B Titr" panose="00000700000000000000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این مقاله مروری (Survey) است، نه ارائه یک الگوریتم جدید.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اما یک چارچوب مفهومی بسیار مهم ارائه می‌دهد.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چارچوب کلی Agent مجهز به LLM (هسته مقاله)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بر اساس عکس 2 مقاله، Agent شامل این بلوک‌هاست: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1. Perception (ادراک محیط)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ورودی‌ها: </a:t>
            </a:r>
          </a:p>
          <a:p>
            <a:pPr marL="285750" lvl="1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داده واقعی</a:t>
            </a:r>
          </a:p>
          <a:p>
            <a:pPr marL="285750" lvl="1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رویداد اجتماعی</a:t>
            </a:r>
          </a:p>
          <a:p>
            <a:pPr marL="285750" lvl="1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پیام‌ها</a:t>
            </a:r>
          </a:p>
          <a:p>
            <a:pPr marL="285750" lvl="1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وضعیت دیگر agentها</a:t>
            </a:r>
          </a:p>
          <a:p>
            <a:pPr algn="r" rtl="1"/>
            <a:endParaRPr lang="fa-IR" sz="1400" dirty="0"/>
          </a:p>
          <a:p>
            <a:pPr algn="r" rtl="1">
              <a:lnSpc>
                <a:spcPct val="150000"/>
              </a:lnSpc>
            </a:pPr>
            <a:endParaRPr lang="fa-IR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4473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FDA9909-0EA8-0176-AAAC-102DE04E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>
            <a:extLst>
              <a:ext uri="{FF2B5EF4-FFF2-40B4-BE49-F238E27FC236}">
                <a16:creationId xmlns:a16="http://schemas.microsoft.com/office/drawing/2014/main" id="{BAA72F27-E4E3-DD7D-1AE0-628EE26234D5}"/>
              </a:ext>
            </a:extLst>
          </p:cNvPr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>
            <a:extLst>
              <a:ext uri="{FF2B5EF4-FFF2-40B4-BE49-F238E27FC236}">
                <a16:creationId xmlns:a16="http://schemas.microsoft.com/office/drawing/2014/main" id="{04D05D7C-9736-4FCE-5B58-19B186831B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2. Internal State + Memory</a:t>
            </a:r>
          </a:p>
          <a:p>
            <a:pPr marL="285750" indent="-285750" algn="r" rtl="1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حافظه کوتاه‌مدت (recent context)</a:t>
            </a:r>
          </a:p>
          <a:p>
            <a:pPr marL="285750" indent="-285750" algn="r" rtl="1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حافظه بلندمدت (تجربه‌ها، تعاملات)</a:t>
            </a:r>
          </a:p>
          <a:p>
            <a:pPr marL="285750" indent="-285750" algn="r" rtl="1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احساس، نگرش، تاریخچه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3. Reasoning &amp; Decision Making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LLM به‌عنوان موتور استدلال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تصمیم بر اساس: </a:t>
            </a:r>
          </a:p>
          <a:p>
            <a:pPr marL="285750" lvl="1" indent="-28575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وضعیت فعلی</a:t>
            </a:r>
          </a:p>
          <a:p>
            <a:pPr marL="285750" lvl="1" indent="-28575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حافظه</a:t>
            </a:r>
          </a:p>
          <a:p>
            <a:pPr marL="285750" lvl="1" indent="-28575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اهداف</a:t>
            </a:r>
          </a:p>
          <a:p>
            <a:pPr marL="285750" lvl="1" indent="-28575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قواعد</a:t>
            </a:r>
            <a:endParaRPr lang="fa-IR" sz="1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2879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32135CBA-B1FC-0B54-405B-B727498B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>
            <a:extLst>
              <a:ext uri="{FF2B5EF4-FFF2-40B4-BE49-F238E27FC236}">
                <a16:creationId xmlns:a16="http://schemas.microsoft.com/office/drawing/2014/main" id="{03013571-F35D-33CB-6F5A-24A171E357C0}"/>
              </a:ext>
            </a:extLst>
          </p:cNvPr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>
            <a:extLst>
              <a:ext uri="{FF2B5EF4-FFF2-40B4-BE49-F238E27FC236}">
                <a16:creationId xmlns:a16="http://schemas.microsoft.com/office/drawing/2014/main" id="{973197F1-FBB4-9EA2-ADAC-F7D53046E4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4. Action / Generation</a:t>
            </a:r>
          </a:p>
          <a:p>
            <a:pPr algn="r" rtl="1">
              <a:lnSpc>
                <a:spcPct val="150000"/>
              </a:lnSpc>
              <a:buSzPct val="120000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تولید کنش: </a:t>
            </a:r>
          </a:p>
          <a:p>
            <a:pPr marL="285750" lvl="1" indent="-285750" algn="r" rtl="1">
              <a:lnSpc>
                <a:spcPct val="150000"/>
              </a:lnSpc>
              <a:buSzPct val="120000"/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حرکت</a:t>
            </a:r>
          </a:p>
          <a:p>
            <a:pPr marL="285750" lvl="1" indent="-285750" algn="r" rtl="1">
              <a:lnSpc>
                <a:spcPct val="150000"/>
              </a:lnSpc>
              <a:buSzPct val="120000"/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پیام</a:t>
            </a:r>
          </a:p>
          <a:p>
            <a:pPr marL="285750" lvl="1" indent="-285750" algn="r" rtl="1">
              <a:lnSpc>
                <a:spcPct val="150000"/>
              </a:lnSpc>
              <a:buSzPct val="120000"/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تعامل اجتماعی</a:t>
            </a:r>
          </a:p>
          <a:p>
            <a:pPr marL="285750" indent="-285750" algn="r" rtl="1">
              <a:lnSpc>
                <a:spcPct val="150000"/>
              </a:lnSpc>
              <a:buSzPct val="120000"/>
              <a:buFont typeface="Wingdings" panose="05000000000000000000" pitchFamily="2" charset="2"/>
              <a:buChar char="q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خروجی مستقیماً وارد </a:t>
            </a: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Environment </a:t>
            </a: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می‌شود</a:t>
            </a:r>
          </a:p>
          <a:p>
            <a:pPr algn="r" rtl="1">
              <a:lnSpc>
                <a:spcPct val="150000"/>
              </a:lnSpc>
            </a:pPr>
            <a:b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endParaRPr lang="fa-IR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5. Learning &amp; Evolution</a:t>
            </a:r>
          </a:p>
          <a:p>
            <a:pPr marL="285750" indent="-285750" algn="r" rtl="1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Reflection</a:t>
            </a:r>
          </a:p>
          <a:p>
            <a:pPr marL="285750" indent="-285750" algn="r" rtl="1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Update memory</a:t>
            </a:r>
          </a:p>
          <a:p>
            <a:pPr marL="285750" indent="-285750" algn="r" rtl="1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تغییر استراتژی در طول زمان</a:t>
            </a:r>
          </a:p>
        </p:txBody>
      </p:sp>
    </p:spTree>
    <p:extLst>
      <p:ext uri="{BB962C8B-B14F-4D97-AF65-F5344CB8AC3E}">
        <p14:creationId xmlns:p14="http://schemas.microsoft.com/office/powerpoint/2010/main" val="56729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1123E94-AED6-B8FB-88B9-A48D22D2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>
            <a:extLst>
              <a:ext uri="{FF2B5EF4-FFF2-40B4-BE49-F238E27FC236}">
                <a16:creationId xmlns:a16="http://schemas.microsoft.com/office/drawing/2014/main" id="{03786140-2E0E-92DF-03FB-24E8D7B09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227050"/>
            <a:ext cx="77178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a-IR" dirty="0"/>
              <a:t>نتایج</a:t>
            </a:r>
            <a:endParaRPr dirty="0"/>
          </a:p>
        </p:txBody>
      </p:sp>
      <p:sp>
        <p:nvSpPr>
          <p:cNvPr id="247" name="Google Shape;247;p41">
            <a:extLst>
              <a:ext uri="{FF2B5EF4-FFF2-40B4-BE49-F238E27FC236}">
                <a16:creationId xmlns:a16="http://schemas.microsoft.com/office/drawing/2014/main" id="{E335A3ED-4945-E408-44B0-04E5A0EFBB8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07425" y="0"/>
            <a:ext cx="1123800" cy="163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03</a:t>
            </a:r>
            <a:endParaRPr dirty="0"/>
          </a:p>
        </p:txBody>
      </p:sp>
      <p:cxnSp>
        <p:nvCxnSpPr>
          <p:cNvPr id="248" name="Google Shape;248;p41">
            <a:extLst>
              <a:ext uri="{FF2B5EF4-FFF2-40B4-BE49-F238E27FC236}">
                <a16:creationId xmlns:a16="http://schemas.microsoft.com/office/drawing/2014/main" id="{392586A1-81C6-D187-AE8C-FF3C510525CE}"/>
              </a:ext>
            </a:extLst>
          </p:cNvPr>
          <p:cNvCxnSpPr/>
          <p:nvPr/>
        </p:nvCxnSpPr>
        <p:spPr>
          <a:xfrm rot="10800000">
            <a:off x="3733800" y="4076600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EDB17431-001B-972C-3339-931F5C39BFCE}"/>
              </a:ext>
            </a:extLst>
          </p:cNvPr>
          <p:cNvSpPr/>
          <p:nvPr/>
        </p:nvSpPr>
        <p:spPr>
          <a:xfrm>
            <a:off x="4396775" y="3901400"/>
            <a:ext cx="350400" cy="3504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50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6DEADCF9-24D6-ABC8-1688-5F5D9B04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>
            <a:extLst>
              <a:ext uri="{FF2B5EF4-FFF2-40B4-BE49-F238E27FC236}">
                <a16:creationId xmlns:a16="http://schemas.microsoft.com/office/drawing/2014/main" id="{D2660B2C-7C00-B3C2-5414-3D864AA6F0EC}"/>
              </a:ext>
            </a:extLst>
          </p:cNvPr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>
            <a:extLst>
              <a:ext uri="{FF2B5EF4-FFF2-40B4-BE49-F238E27FC236}">
                <a16:creationId xmlns:a16="http://schemas.microsoft.com/office/drawing/2014/main" id="{7A04E524-6862-CA1B-8667-2F6E705DFB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chemeClr val="tx1"/>
                </a:solidFill>
                <a:cs typeface="B Titr" panose="00000700000000000000" pitchFamily="2" charset="-78"/>
              </a:rPr>
              <a:t>نتایج</a:t>
            </a:r>
          </a:p>
          <a:p>
            <a:pPr algn="r" rtl="1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LLM-agent</a:t>
            </a: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ها می‌توانند الگوهای جمعی واقعی </a:t>
            </a:r>
            <a:r>
              <a:rPr lang="fa-IR" sz="1400">
                <a:solidFill>
                  <a:schemeClr val="tx1"/>
                </a:solidFill>
                <a:cs typeface="B Nazanin" panose="00000400000000000000" pitchFamily="2" charset="-78"/>
              </a:rPr>
              <a:t>را بازتولید کنند.</a:t>
            </a:r>
            <a:endParaRPr lang="en-US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ارزیابی باید دو سطحی باشد:</a:t>
            </a:r>
          </a:p>
          <a:p>
            <a:pPr algn="r" rtl="1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Individual-level</a:t>
            </a:r>
          </a:p>
          <a:p>
            <a:pPr algn="r" rtl="1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Population-level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چالش‌های جدی وجود دارد: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هزینه محاسباتی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عدم کنترل خروجی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bias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مشکل explainability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نبود فیزیک معتبر در بعضی کارها</a:t>
            </a:r>
          </a:p>
          <a:p>
            <a:pPr>
              <a:lnSpc>
                <a:spcPct val="150000"/>
              </a:lnSpc>
            </a:pPr>
            <a:endParaRPr lang="en-US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4548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3135C5A-0A1D-33BC-B240-060EBA57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>
            <a:extLst>
              <a:ext uri="{FF2B5EF4-FFF2-40B4-BE49-F238E27FC236}">
                <a16:creationId xmlns:a16="http://schemas.microsoft.com/office/drawing/2014/main" id="{859C0C77-1317-2602-BB51-9B44E560B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227050"/>
            <a:ext cx="77178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a-IR" dirty="0"/>
              <a:t>نقد</a:t>
            </a:r>
            <a:endParaRPr dirty="0"/>
          </a:p>
        </p:txBody>
      </p:sp>
      <p:sp>
        <p:nvSpPr>
          <p:cNvPr id="247" name="Google Shape;247;p41">
            <a:extLst>
              <a:ext uri="{FF2B5EF4-FFF2-40B4-BE49-F238E27FC236}">
                <a16:creationId xmlns:a16="http://schemas.microsoft.com/office/drawing/2014/main" id="{FDFE25E3-D40E-5A5A-4E53-18DA919526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07425" y="0"/>
            <a:ext cx="1123800" cy="163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04</a:t>
            </a:r>
            <a:endParaRPr dirty="0"/>
          </a:p>
        </p:txBody>
      </p:sp>
      <p:cxnSp>
        <p:nvCxnSpPr>
          <p:cNvPr id="248" name="Google Shape;248;p41">
            <a:extLst>
              <a:ext uri="{FF2B5EF4-FFF2-40B4-BE49-F238E27FC236}">
                <a16:creationId xmlns:a16="http://schemas.microsoft.com/office/drawing/2014/main" id="{FFC63DF7-215F-C955-6A3F-E790D6807BD5}"/>
              </a:ext>
            </a:extLst>
          </p:cNvPr>
          <p:cNvCxnSpPr/>
          <p:nvPr/>
        </p:nvCxnSpPr>
        <p:spPr>
          <a:xfrm rot="10800000">
            <a:off x="3733800" y="4076600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012E5B8D-9080-C101-0F99-DD514CFA925E}"/>
              </a:ext>
            </a:extLst>
          </p:cNvPr>
          <p:cNvSpPr/>
          <p:nvPr/>
        </p:nvSpPr>
        <p:spPr>
          <a:xfrm>
            <a:off x="4396775" y="3901400"/>
            <a:ext cx="350400" cy="3504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99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35CC860A-2BC5-190A-BB1C-40FEFF06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>
            <a:extLst>
              <a:ext uri="{FF2B5EF4-FFF2-40B4-BE49-F238E27FC236}">
                <a16:creationId xmlns:a16="http://schemas.microsoft.com/office/drawing/2014/main" id="{22C82B5B-5795-6FEF-354B-3DE4F74AEEC8}"/>
              </a:ext>
            </a:extLst>
          </p:cNvPr>
          <p:cNvSpPr/>
          <p:nvPr/>
        </p:nvSpPr>
        <p:spPr>
          <a:xfrm>
            <a:off x="215153" y="203233"/>
            <a:ext cx="8289805" cy="45839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>
            <a:extLst>
              <a:ext uri="{FF2B5EF4-FFF2-40B4-BE49-F238E27FC236}">
                <a16:creationId xmlns:a16="http://schemas.microsoft.com/office/drawing/2014/main" id="{40DE5595-4285-1768-4548-29D84174CC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647" y="203233"/>
            <a:ext cx="7859805" cy="4523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chemeClr val="tx1"/>
                </a:solidFill>
                <a:cs typeface="B Titr" panose="00000700000000000000" pitchFamily="2" charset="-78"/>
              </a:rPr>
              <a:t>نقد</a:t>
            </a:r>
          </a:p>
          <a:p>
            <a:pPr algn="r" rtl="1">
              <a:lnSpc>
                <a:spcPct val="150000"/>
              </a:lnSpc>
            </a:pPr>
            <a:r>
              <a:rPr lang="fa-IR" sz="1400" b="1" dirty="0">
                <a:solidFill>
                  <a:schemeClr val="tx1"/>
                </a:solidFill>
                <a:cs typeface="B Titr" panose="00000700000000000000" pitchFamily="2" charset="-78"/>
              </a:rPr>
              <a:t>محدودیت‌های مقاله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❌ کد مرجع واحد ارائه نمی‌دهد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❌ هیچ benchmark استاندارد معرفی نمی‌کند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❌ فیزیک محیط‌ها اغلب ساده یا غیرواقعی است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❌ بیشتر تمرکز روی social agents است تا physical validity</a:t>
            </a:r>
          </a:p>
          <a:p>
            <a:pPr>
              <a:lnSpc>
                <a:spcPct val="150000"/>
              </a:lnSpc>
            </a:pPr>
            <a:endParaRPr lang="en-US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15285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713225" y="237750"/>
            <a:ext cx="7717500" cy="1034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6"/>
          <p:cNvSpPr txBox="1">
            <a:spLocks noGrp="1"/>
          </p:cNvSpPr>
          <p:nvPr>
            <p:ph type="title"/>
          </p:nvPr>
        </p:nvSpPr>
        <p:spPr>
          <a:xfrm>
            <a:off x="713225" y="453341"/>
            <a:ext cx="7717500" cy="60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a-IR" dirty="0"/>
              <a:t>این کار چطور وارد یک سامانه عملیاتی می‌شود؟</a:t>
            </a:r>
            <a:endParaRPr dirty="0"/>
          </a:p>
        </p:txBody>
      </p:sp>
      <p:sp>
        <p:nvSpPr>
          <p:cNvPr id="362" name="Google Shape;362;p46"/>
          <p:cNvSpPr txBox="1">
            <a:spLocks noGrp="1"/>
          </p:cNvSpPr>
          <p:nvPr>
            <p:ph type="subTitle" idx="1"/>
          </p:nvPr>
        </p:nvSpPr>
        <p:spPr>
          <a:xfrm>
            <a:off x="637785" y="1488122"/>
            <a:ext cx="7792940" cy="34176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</a:rPr>
              <a:t>معماری سامانه عملیاتی پیشنهادی (واقعی)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j-lt"/>
                <a:cs typeface="+mn-cs"/>
              </a:rPr>
              <a:t>Sensors / Logs / State → Perception Module → Memory Update (sliding window / vector DB) → Reasoning (LLM</a:t>
            </a:r>
            <a:r>
              <a:rPr lang="fa-IR" dirty="0">
                <a:solidFill>
                  <a:schemeClr val="tx1"/>
                </a:solidFill>
                <a:latin typeface="+mj-lt"/>
                <a:cs typeface="+mn-cs"/>
              </a:rPr>
              <a:t> یا </a:t>
            </a:r>
            <a:r>
              <a:rPr lang="en-US" dirty="0" err="1">
                <a:solidFill>
                  <a:schemeClr val="tx1"/>
                </a:solidFill>
                <a:latin typeface="+mj-lt"/>
                <a:cs typeface="+mn-cs"/>
              </a:rPr>
              <a:t>rule+LLM</a:t>
            </a:r>
            <a:r>
              <a:rPr lang="en-US" dirty="0">
                <a:solidFill>
                  <a:schemeClr val="tx1"/>
                </a:solidFill>
                <a:latin typeface="+mj-lt"/>
                <a:cs typeface="+mn-cs"/>
              </a:rPr>
              <a:t> hybrid) → Action Proposal → Physical Constraint Filter (Environment) → Executio</a:t>
            </a:r>
            <a:r>
              <a:rPr lang="en-US" dirty="0">
                <a:solidFill>
                  <a:schemeClr val="tx1"/>
                </a:solidFill>
                <a:cs typeface="+mn-cs"/>
              </a:rPr>
              <a:t>n</a:t>
            </a: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مثال‌های عملی واقعی</a:t>
            </a: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 ترافیک و ITS</a:t>
            </a: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agent </a:t>
            </a:r>
            <a:r>
              <a:rPr lang="fa-I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 خودرو</a:t>
            </a: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memory </a:t>
            </a:r>
            <a:r>
              <a:rPr lang="fa-I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 فاصله‌های اخیر</a:t>
            </a: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reasoning </a:t>
            </a:r>
            <a:r>
              <a:rPr lang="fa-IR" dirty="0">
                <a:solidFill>
                  <a:schemeClr val="tx1"/>
                </a:solidFill>
                <a:cs typeface="+mn-cs"/>
              </a:rPr>
              <a:t>=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 تصمیم سرعت</a:t>
            </a:r>
          </a:p>
          <a:p>
            <a:pPr rtl="1">
              <a:lnSpc>
                <a:spcPct val="150000"/>
              </a:lnSpc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constraint = single lane</a:t>
            </a:r>
          </a:p>
          <a:p>
            <a:pPr algn="r" rtl="1">
              <a:lnSpc>
                <a:spcPct val="150000"/>
              </a:lnSpc>
            </a:pPr>
            <a:endParaRPr lang="fa-IR" sz="1400" dirty="0">
              <a:solidFill>
                <a:schemeClr val="tx1"/>
              </a:solidFill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E1DDF1-5B78-AC5B-0DFA-F2910138B5A7}"/>
              </a:ext>
            </a:extLst>
          </p:cNvPr>
          <p:cNvSpPr txBox="1"/>
          <p:nvPr/>
        </p:nvSpPr>
        <p:spPr>
          <a:xfrm>
            <a:off x="2286000" y="2187029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4400" dirty="0">
                <a:solidFill>
                  <a:schemeClr val="bg1"/>
                </a:solidFill>
                <a:cs typeface="B Titr" panose="00000700000000000000" pitchFamily="2" charset="-78"/>
              </a:rPr>
              <a:t>با تشکر از توجه شما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Center of Philosoph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41414"/>
      </a:accent1>
      <a:accent2>
        <a:srgbClr val="7A7A7A"/>
      </a:accent2>
      <a:accent3>
        <a:srgbClr val="EBEBEB"/>
      </a:accent3>
      <a:accent4>
        <a:srgbClr val="FFFFFF"/>
      </a:accent4>
      <a:accent5>
        <a:srgbClr val="141414"/>
      </a:accent5>
      <a:accent6>
        <a:srgbClr val="141414"/>
      </a:accent6>
      <a:hlink>
        <a:srgbClr val="7A7A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409</Words>
  <Application>Microsoft Office PowerPoint</Application>
  <PresentationFormat>On-screen Show (16:9)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Raleway</vt:lpstr>
      <vt:lpstr>Open Sans</vt:lpstr>
      <vt:lpstr>Wingdings</vt:lpstr>
      <vt:lpstr>Roboto</vt:lpstr>
      <vt:lpstr>B Titr</vt:lpstr>
      <vt:lpstr>B Nazanin</vt:lpstr>
      <vt:lpstr>Courier New</vt:lpstr>
      <vt:lpstr>AzarMehr</vt:lpstr>
      <vt:lpstr>University Center of Philosophy by Slidesgo</vt:lpstr>
      <vt:lpstr>LLMs Empowered ABM and Simulation</vt:lpstr>
      <vt:lpstr>فهرست مطالب</vt:lpstr>
      <vt:lpstr>مسئله مقاله</vt:lpstr>
      <vt:lpstr>PowerPoint Presentation</vt:lpstr>
      <vt:lpstr>روش ها</vt:lpstr>
      <vt:lpstr>PowerPoint Presentation</vt:lpstr>
      <vt:lpstr>PowerPoint Presentation</vt:lpstr>
      <vt:lpstr>PowerPoint Presentation</vt:lpstr>
      <vt:lpstr>نتایج</vt:lpstr>
      <vt:lpstr>PowerPoint Presentation</vt:lpstr>
      <vt:lpstr>نقد</vt:lpstr>
      <vt:lpstr>PowerPoint Presentation</vt:lpstr>
      <vt:lpstr>این کار چطور وارد یک سامانه عملیاتی می‌شود؟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Center of Philosophy</dc:title>
  <dc:creator>MOHAMAD</dc:creator>
  <cp:lastModifiedBy>home</cp:lastModifiedBy>
  <cp:revision>17</cp:revision>
  <dcterms:modified xsi:type="dcterms:W3CDTF">2026-02-05T17:16:29Z</dcterms:modified>
</cp:coreProperties>
</file>